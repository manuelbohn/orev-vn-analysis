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  <p:sldId id="257" r:id="rId3"/>
  </p:sldIdLst>
  <p:sldSz cx="11520488" cy="5400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5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41"/>
    <p:restoredTop sz="94707"/>
  </p:normalViewPr>
  <p:slideViewPr>
    <p:cSldViewPr snapToGrid="0">
      <p:cViewPr varScale="1">
        <p:scale>
          <a:sx n="138" d="100"/>
          <a:sy n="138" d="100"/>
        </p:scale>
        <p:origin x="208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883861"/>
            <a:ext cx="8640366" cy="1880235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2836605"/>
            <a:ext cx="8640366" cy="1303913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89888-7615-824C-89A5-4D82CF69D74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333CE-B473-0F4A-ABE1-7B1E348FD6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16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89888-7615-824C-89A5-4D82CF69D74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333CE-B473-0F4A-ABE1-7B1E348FD6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341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346419"/>
            <a:ext cx="9936421" cy="2246530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3614203"/>
            <a:ext cx="9936421" cy="1181397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82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89888-7615-824C-89A5-4D82CF69D74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333CE-B473-0F4A-ABE1-7B1E348FD6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45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437680"/>
            <a:ext cx="4896207" cy="34266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437680"/>
            <a:ext cx="4896207" cy="34266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89888-7615-824C-89A5-4D82CF69D74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333CE-B473-0F4A-ABE1-7B1E348FD6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9139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287536"/>
            <a:ext cx="9936421" cy="104388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323916"/>
            <a:ext cx="4873706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1972747"/>
            <a:ext cx="4873706" cy="290161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323916"/>
            <a:ext cx="4897708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1972747"/>
            <a:ext cx="4897708" cy="290161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89888-7615-824C-89A5-4D82CF69D74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333CE-B473-0F4A-ABE1-7B1E348FD6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828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89888-7615-824C-89A5-4D82CF69D74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333CE-B473-0F4A-ABE1-7B1E348FD6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542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89888-7615-824C-89A5-4D82CF69D74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333CE-B473-0F4A-ABE1-7B1E348FD6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056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360045"/>
            <a:ext cx="3715657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777597"/>
            <a:ext cx="5832247" cy="3837980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620202"/>
            <a:ext cx="3715657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89888-7615-824C-89A5-4D82CF69D74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333CE-B473-0F4A-ABE1-7B1E348FD6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817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360045"/>
            <a:ext cx="3715657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777597"/>
            <a:ext cx="5832247" cy="3837980"/>
          </a:xfrm>
        </p:spPr>
        <p:txBody>
          <a:bodyPr anchor="t"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620202"/>
            <a:ext cx="3715657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89888-7615-824C-89A5-4D82CF69D74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333CE-B473-0F4A-ABE1-7B1E348FD6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824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89888-7615-824C-89A5-4D82CF69D74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333CE-B473-0F4A-ABE1-7B1E348FD6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647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287536"/>
            <a:ext cx="2484105" cy="457682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287536"/>
            <a:ext cx="7308310" cy="457682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89888-7615-824C-89A5-4D82CF69D74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333CE-B473-0F4A-ABE1-7B1E348FD6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510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287536"/>
            <a:ext cx="9936421" cy="1043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437680"/>
            <a:ext cx="9936421" cy="3426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5005626"/>
            <a:ext cx="259211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89888-7615-824C-89A5-4D82CF69D74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5005626"/>
            <a:ext cx="3888165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5005626"/>
            <a:ext cx="259211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4333CE-B473-0F4A-ABE1-7B1E348FD6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274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0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F18781FD-1A7D-C5AC-E9B6-81FAACF04DCD}"/>
              </a:ext>
            </a:extLst>
          </p:cNvPr>
          <p:cNvSpPr/>
          <p:nvPr/>
        </p:nvSpPr>
        <p:spPr>
          <a:xfrm>
            <a:off x="-10844" y="3257144"/>
            <a:ext cx="3411095" cy="1295098"/>
          </a:xfrm>
          <a:prstGeom prst="rect">
            <a:avLst/>
          </a:prstGeom>
          <a:solidFill>
            <a:srgbClr val="FBF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4BBB6D3-913A-F912-FA87-F24A2690EFCC}"/>
              </a:ext>
            </a:extLst>
          </p:cNvPr>
          <p:cNvSpPr/>
          <p:nvPr/>
        </p:nvSpPr>
        <p:spPr>
          <a:xfrm>
            <a:off x="-10843" y="668542"/>
            <a:ext cx="3411094" cy="1295098"/>
          </a:xfrm>
          <a:prstGeom prst="rect">
            <a:avLst/>
          </a:prstGeom>
          <a:solidFill>
            <a:srgbClr val="FBF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3BF932-41AA-A366-3C5D-FCF0D2D03235}"/>
              </a:ext>
            </a:extLst>
          </p:cNvPr>
          <p:cNvSpPr/>
          <p:nvPr/>
        </p:nvSpPr>
        <p:spPr>
          <a:xfrm>
            <a:off x="8114167" y="3257144"/>
            <a:ext cx="3411094" cy="1295098"/>
          </a:xfrm>
          <a:prstGeom prst="rect">
            <a:avLst/>
          </a:prstGeom>
          <a:solidFill>
            <a:srgbClr val="FBF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9824889-4902-56A3-50AC-DEBFB097035C}"/>
              </a:ext>
            </a:extLst>
          </p:cNvPr>
          <p:cNvSpPr/>
          <p:nvPr/>
        </p:nvSpPr>
        <p:spPr>
          <a:xfrm>
            <a:off x="8114167" y="669871"/>
            <a:ext cx="3411094" cy="1295098"/>
          </a:xfrm>
          <a:prstGeom prst="rect">
            <a:avLst/>
          </a:prstGeom>
          <a:solidFill>
            <a:srgbClr val="FBF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3A8383E-3DCB-B821-DEAF-1C814271B5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2299"/>
          <a:stretch>
            <a:fillRect/>
          </a:stretch>
        </p:blipFill>
        <p:spPr>
          <a:xfrm>
            <a:off x="3148180" y="34599"/>
            <a:ext cx="5224141" cy="532874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83064BD-111D-BD74-8EE2-F7D38C2B2BE2}"/>
              </a:ext>
            </a:extLst>
          </p:cNvPr>
          <p:cNvSpPr txBox="1"/>
          <p:nvPr/>
        </p:nvSpPr>
        <p:spPr>
          <a:xfrm>
            <a:off x="9337977" y="669871"/>
            <a:ext cx="1654619" cy="12950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rgbClr val="0A0A0A"/>
                </a:solidFill>
                <a:latin typeface="Merriweather" pitchFamily="2" charset="77"/>
              </a:rPr>
              <a:t>Target word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0A0A0A"/>
                </a:solidFill>
                <a:latin typeface="Merriweather" pitchFamily="2" charset="77"/>
              </a:rPr>
              <a:t>”</a:t>
            </a:r>
            <a:r>
              <a:rPr lang="en-US" dirty="0" err="1">
                <a:solidFill>
                  <a:srgbClr val="0A0A0A"/>
                </a:solidFill>
                <a:latin typeface="Merriweather" pitchFamily="2" charset="77"/>
              </a:rPr>
              <a:t>jonglieren</a:t>
            </a:r>
            <a:r>
              <a:rPr lang="en-US" dirty="0">
                <a:solidFill>
                  <a:srgbClr val="0A0A0A"/>
                </a:solidFill>
                <a:latin typeface="Merriweather" pitchFamily="2" charset="77"/>
              </a:rPr>
              <a:t>”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0A0A0A"/>
                </a:solidFill>
                <a:latin typeface="Merriweather" pitchFamily="2" charset="77"/>
              </a:rPr>
              <a:t>(to juggle)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573671A-3715-7CD6-D858-51BFE35FB8E5}"/>
              </a:ext>
            </a:extLst>
          </p:cNvPr>
          <p:cNvSpPr txBox="1"/>
          <p:nvPr/>
        </p:nvSpPr>
        <p:spPr>
          <a:xfrm>
            <a:off x="-10843" y="668542"/>
            <a:ext cx="2922596" cy="12950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rgbClr val="0A0A0A"/>
                </a:solidFill>
                <a:latin typeface="Merriweather" pitchFamily="2" charset="77"/>
              </a:rPr>
              <a:t>Phonological distractor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0A0A0A"/>
                </a:solidFill>
                <a:latin typeface="Merriweather" pitchFamily="2" charset="77"/>
              </a:rPr>
              <a:t>”</a:t>
            </a:r>
            <a:r>
              <a:rPr lang="en-US" dirty="0" err="1">
                <a:solidFill>
                  <a:srgbClr val="0A0A0A"/>
                </a:solidFill>
                <a:latin typeface="Merriweather" pitchFamily="2" charset="77"/>
              </a:rPr>
              <a:t>verlieren</a:t>
            </a:r>
            <a:r>
              <a:rPr lang="en-US" dirty="0">
                <a:solidFill>
                  <a:srgbClr val="0A0A0A"/>
                </a:solidFill>
                <a:latin typeface="Merriweather" pitchFamily="2" charset="77"/>
              </a:rPr>
              <a:t>”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0A0A0A"/>
                </a:solidFill>
                <a:latin typeface="Merriweather" pitchFamily="2" charset="77"/>
              </a:rPr>
              <a:t>(to lose)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A3420F9-D425-98D3-53F7-88AC4939A7B8}"/>
              </a:ext>
            </a:extLst>
          </p:cNvPr>
          <p:cNvSpPr txBox="1"/>
          <p:nvPr/>
        </p:nvSpPr>
        <p:spPr>
          <a:xfrm>
            <a:off x="196742" y="3257144"/>
            <a:ext cx="2507418" cy="12950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rgbClr val="0A0A0A"/>
                </a:solidFill>
                <a:latin typeface="Merriweather" pitchFamily="2" charset="77"/>
              </a:rPr>
              <a:t>Unrelated distractor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0A0A0A"/>
                </a:solidFill>
                <a:latin typeface="Merriweather" pitchFamily="2" charset="77"/>
              </a:rPr>
              <a:t>”</a:t>
            </a:r>
            <a:r>
              <a:rPr lang="en-US" dirty="0" err="1">
                <a:solidFill>
                  <a:srgbClr val="0A0A0A"/>
                </a:solidFill>
                <a:latin typeface="Merriweather" pitchFamily="2" charset="77"/>
              </a:rPr>
              <a:t>anfassen</a:t>
            </a:r>
            <a:r>
              <a:rPr lang="en-US" dirty="0">
                <a:solidFill>
                  <a:srgbClr val="0A0A0A"/>
                </a:solidFill>
                <a:latin typeface="Merriweather" pitchFamily="2" charset="77"/>
              </a:rPr>
              <a:t>”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0A0A0A"/>
                </a:solidFill>
                <a:latin typeface="Merriweather" pitchFamily="2" charset="77"/>
              </a:rPr>
              <a:t>(to touch)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163FC87-B3FE-FA78-0885-44678B7FC305}"/>
              </a:ext>
            </a:extLst>
          </p:cNvPr>
          <p:cNvSpPr txBox="1"/>
          <p:nvPr/>
        </p:nvSpPr>
        <p:spPr>
          <a:xfrm>
            <a:off x="8929204" y="3257144"/>
            <a:ext cx="2472152" cy="12950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rgbClr val="0A0A0A"/>
                </a:solidFill>
                <a:latin typeface="Merriweather" pitchFamily="2" charset="77"/>
              </a:rPr>
              <a:t>Semantic distractor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0A0A0A"/>
                </a:solidFill>
                <a:latin typeface="Merriweather" pitchFamily="2" charset="77"/>
              </a:rPr>
              <a:t>”</a:t>
            </a:r>
            <a:r>
              <a:rPr lang="en-US" dirty="0" err="1">
                <a:solidFill>
                  <a:srgbClr val="0A0A0A"/>
                </a:solidFill>
                <a:latin typeface="Merriweather" pitchFamily="2" charset="77"/>
              </a:rPr>
              <a:t>werfen</a:t>
            </a:r>
            <a:r>
              <a:rPr lang="en-US" dirty="0">
                <a:solidFill>
                  <a:srgbClr val="0A0A0A"/>
                </a:solidFill>
                <a:latin typeface="Merriweather" pitchFamily="2" charset="77"/>
              </a:rPr>
              <a:t>”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0A0A0A"/>
                </a:solidFill>
                <a:latin typeface="Merriweather" pitchFamily="2" charset="77"/>
              </a:rPr>
              <a:t>(to throw)</a:t>
            </a:r>
          </a:p>
        </p:txBody>
      </p:sp>
    </p:spTree>
    <p:extLst>
      <p:ext uri="{BB962C8B-B14F-4D97-AF65-F5344CB8AC3E}">
        <p14:creationId xmlns:p14="http://schemas.microsoft.com/office/powerpoint/2010/main" val="35827716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F70EC-F733-B5E7-339F-7E8166FC1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1E0C337-C265-2D12-CE3E-7564F06F9DBB}"/>
              </a:ext>
            </a:extLst>
          </p:cNvPr>
          <p:cNvGrpSpPr/>
          <p:nvPr/>
        </p:nvGrpSpPr>
        <p:grpSpPr>
          <a:xfrm>
            <a:off x="3148180" y="-1260502"/>
            <a:ext cx="5224141" cy="7918941"/>
            <a:chOff x="3483933" y="538930"/>
            <a:chExt cx="5224141" cy="7918941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C838A8B-D449-0F46-C61D-C08D0CB60448}"/>
                </a:ext>
              </a:extLst>
            </p:cNvPr>
            <p:cNvSpPr/>
            <p:nvPr/>
          </p:nvSpPr>
          <p:spPr>
            <a:xfrm>
              <a:off x="6316380" y="538930"/>
              <a:ext cx="2180518" cy="1295098"/>
            </a:xfrm>
            <a:prstGeom prst="rect">
              <a:avLst/>
            </a:prstGeom>
            <a:solidFill>
              <a:srgbClr val="FBF5E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229332D2-5168-515E-715F-51DB20E934B6}"/>
                </a:ext>
              </a:extLst>
            </p:cNvPr>
            <p:cNvSpPr/>
            <p:nvPr/>
          </p:nvSpPr>
          <p:spPr>
            <a:xfrm>
              <a:off x="3631842" y="7162773"/>
              <a:ext cx="2180518" cy="1295098"/>
            </a:xfrm>
            <a:prstGeom prst="rect">
              <a:avLst/>
            </a:prstGeom>
            <a:solidFill>
              <a:srgbClr val="FBF5E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0CA9243-CE7E-8183-3E78-7799128BCCFA}"/>
                </a:ext>
              </a:extLst>
            </p:cNvPr>
            <p:cNvSpPr/>
            <p:nvPr/>
          </p:nvSpPr>
          <p:spPr>
            <a:xfrm>
              <a:off x="6316380" y="7150499"/>
              <a:ext cx="2180518" cy="1295098"/>
            </a:xfrm>
            <a:prstGeom prst="rect">
              <a:avLst/>
            </a:prstGeom>
            <a:solidFill>
              <a:srgbClr val="FBF5E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FB1E27CF-2EAE-99F1-75D3-911A84850479}"/>
                </a:ext>
              </a:extLst>
            </p:cNvPr>
            <p:cNvSpPr/>
            <p:nvPr/>
          </p:nvSpPr>
          <p:spPr>
            <a:xfrm>
              <a:off x="3631842" y="538930"/>
              <a:ext cx="2180518" cy="1295098"/>
            </a:xfrm>
            <a:prstGeom prst="rect">
              <a:avLst/>
            </a:prstGeom>
            <a:solidFill>
              <a:srgbClr val="FBF5E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CF33CE58-967A-E62A-94C3-F928AC977C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2299"/>
            <a:stretch>
              <a:fillRect/>
            </a:stretch>
          </p:blipFill>
          <p:spPr>
            <a:xfrm>
              <a:off x="3483933" y="1834028"/>
              <a:ext cx="5224141" cy="5328745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43FFB5A5-577F-4ED7-FA9E-32474461297E}"/>
                </a:ext>
              </a:extLst>
            </p:cNvPr>
            <p:cNvSpPr txBox="1"/>
            <p:nvPr/>
          </p:nvSpPr>
          <p:spPr>
            <a:xfrm>
              <a:off x="6744439" y="672588"/>
              <a:ext cx="1324401" cy="10277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400" b="1" dirty="0">
                  <a:solidFill>
                    <a:srgbClr val="0A0A0A"/>
                  </a:solidFill>
                  <a:latin typeface="Merriweather" pitchFamily="2" charset="77"/>
                </a:rPr>
                <a:t>Target word</a:t>
              </a:r>
            </a:p>
            <a:p>
              <a:pPr algn="ctr">
                <a:lnSpc>
                  <a:spcPct val="150000"/>
                </a:lnSpc>
              </a:pPr>
              <a:r>
                <a:rPr lang="en-US" sz="1400" dirty="0">
                  <a:solidFill>
                    <a:srgbClr val="0A0A0A"/>
                  </a:solidFill>
                  <a:latin typeface="Merriweather" pitchFamily="2" charset="77"/>
                </a:rPr>
                <a:t>”</a:t>
              </a:r>
              <a:r>
                <a:rPr lang="en-US" sz="1400" dirty="0" err="1">
                  <a:solidFill>
                    <a:srgbClr val="0A0A0A"/>
                  </a:solidFill>
                  <a:latin typeface="Merriweather" pitchFamily="2" charset="77"/>
                </a:rPr>
                <a:t>jonglieren</a:t>
              </a:r>
              <a:r>
                <a:rPr lang="en-US" sz="1400" dirty="0">
                  <a:solidFill>
                    <a:srgbClr val="0A0A0A"/>
                  </a:solidFill>
                  <a:latin typeface="Merriweather" pitchFamily="2" charset="77"/>
                </a:rPr>
                <a:t>”</a:t>
              </a:r>
            </a:p>
            <a:p>
              <a:pPr algn="ctr">
                <a:lnSpc>
                  <a:spcPct val="150000"/>
                </a:lnSpc>
              </a:pPr>
              <a:r>
                <a:rPr lang="en-US" sz="1400" dirty="0">
                  <a:solidFill>
                    <a:srgbClr val="0A0A0A"/>
                  </a:solidFill>
                  <a:latin typeface="Merriweather" pitchFamily="2" charset="77"/>
                </a:rPr>
                <a:t>(to juggle)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375679E-755C-6133-4BA3-62F1A5FD7E79}"/>
                </a:ext>
              </a:extLst>
            </p:cNvPr>
            <p:cNvSpPr txBox="1"/>
            <p:nvPr/>
          </p:nvSpPr>
          <p:spPr>
            <a:xfrm>
              <a:off x="3568580" y="672588"/>
              <a:ext cx="2307042" cy="10277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400" b="1" dirty="0">
                  <a:solidFill>
                    <a:srgbClr val="0A0A0A"/>
                  </a:solidFill>
                  <a:latin typeface="Merriweather" pitchFamily="2" charset="77"/>
                </a:rPr>
                <a:t>Phonological distractor</a:t>
              </a:r>
            </a:p>
            <a:p>
              <a:pPr algn="ctr">
                <a:lnSpc>
                  <a:spcPct val="150000"/>
                </a:lnSpc>
              </a:pPr>
              <a:r>
                <a:rPr lang="en-US" sz="1400" dirty="0">
                  <a:solidFill>
                    <a:srgbClr val="0A0A0A"/>
                  </a:solidFill>
                  <a:latin typeface="Merriweather" pitchFamily="2" charset="77"/>
                </a:rPr>
                <a:t>”</a:t>
              </a:r>
              <a:r>
                <a:rPr lang="en-US" sz="1400" dirty="0" err="1">
                  <a:solidFill>
                    <a:srgbClr val="0A0A0A"/>
                  </a:solidFill>
                  <a:latin typeface="Merriweather" pitchFamily="2" charset="77"/>
                </a:rPr>
                <a:t>verlieren</a:t>
              </a:r>
              <a:r>
                <a:rPr lang="en-US" sz="1400" dirty="0">
                  <a:solidFill>
                    <a:srgbClr val="0A0A0A"/>
                  </a:solidFill>
                  <a:latin typeface="Merriweather" pitchFamily="2" charset="77"/>
                </a:rPr>
                <a:t>”</a:t>
              </a:r>
            </a:p>
            <a:p>
              <a:pPr algn="ctr">
                <a:lnSpc>
                  <a:spcPct val="150000"/>
                </a:lnSpc>
              </a:pPr>
              <a:r>
                <a:rPr lang="en-US" sz="1400" dirty="0">
                  <a:solidFill>
                    <a:srgbClr val="0A0A0A"/>
                  </a:solidFill>
                  <a:latin typeface="Merriweather" pitchFamily="2" charset="77"/>
                </a:rPr>
                <a:t>(to lose)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76FB47C4-6832-7B95-CC31-2016C1DF68A1}"/>
                </a:ext>
              </a:extLst>
            </p:cNvPr>
            <p:cNvSpPr txBox="1"/>
            <p:nvPr/>
          </p:nvSpPr>
          <p:spPr>
            <a:xfrm>
              <a:off x="3719263" y="7299168"/>
              <a:ext cx="2005677" cy="10277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400" b="1" dirty="0">
                  <a:solidFill>
                    <a:srgbClr val="0A0A0A"/>
                  </a:solidFill>
                  <a:latin typeface="Merriweather" pitchFamily="2" charset="77"/>
                </a:rPr>
                <a:t>Unrelated distractor</a:t>
              </a:r>
            </a:p>
            <a:p>
              <a:pPr algn="ctr">
                <a:lnSpc>
                  <a:spcPct val="150000"/>
                </a:lnSpc>
              </a:pPr>
              <a:r>
                <a:rPr lang="en-US" sz="1400" dirty="0">
                  <a:solidFill>
                    <a:srgbClr val="0A0A0A"/>
                  </a:solidFill>
                  <a:latin typeface="Merriweather" pitchFamily="2" charset="77"/>
                </a:rPr>
                <a:t>”</a:t>
              </a:r>
              <a:r>
                <a:rPr lang="en-US" sz="1400" dirty="0" err="1">
                  <a:solidFill>
                    <a:srgbClr val="0A0A0A"/>
                  </a:solidFill>
                  <a:latin typeface="Merriweather" pitchFamily="2" charset="77"/>
                </a:rPr>
                <a:t>anfassen</a:t>
              </a:r>
              <a:r>
                <a:rPr lang="en-US" sz="1400" dirty="0">
                  <a:solidFill>
                    <a:srgbClr val="0A0A0A"/>
                  </a:solidFill>
                  <a:latin typeface="Merriweather" pitchFamily="2" charset="77"/>
                </a:rPr>
                <a:t>”</a:t>
              </a:r>
            </a:p>
            <a:p>
              <a:pPr algn="ctr">
                <a:lnSpc>
                  <a:spcPct val="150000"/>
                </a:lnSpc>
              </a:pPr>
              <a:r>
                <a:rPr lang="en-US" sz="1400" dirty="0">
                  <a:solidFill>
                    <a:srgbClr val="0A0A0A"/>
                  </a:solidFill>
                  <a:latin typeface="Merriweather" pitchFamily="2" charset="77"/>
                </a:rPr>
                <a:t>(to touch)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DC19CD1A-7F3F-7E7A-2632-B84F29223322}"/>
                </a:ext>
              </a:extLst>
            </p:cNvPr>
            <p:cNvSpPr txBox="1"/>
            <p:nvPr/>
          </p:nvSpPr>
          <p:spPr>
            <a:xfrm>
              <a:off x="6426243" y="7150499"/>
              <a:ext cx="1960793" cy="10277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400" b="1" dirty="0">
                  <a:solidFill>
                    <a:srgbClr val="0A0A0A"/>
                  </a:solidFill>
                  <a:latin typeface="Merriweather" pitchFamily="2" charset="77"/>
                </a:rPr>
                <a:t>Semantic distractor</a:t>
              </a:r>
            </a:p>
            <a:p>
              <a:pPr algn="ctr">
                <a:lnSpc>
                  <a:spcPct val="150000"/>
                </a:lnSpc>
              </a:pPr>
              <a:r>
                <a:rPr lang="en-US" sz="1400" dirty="0">
                  <a:solidFill>
                    <a:srgbClr val="0A0A0A"/>
                  </a:solidFill>
                  <a:latin typeface="Merriweather" pitchFamily="2" charset="77"/>
                </a:rPr>
                <a:t>”</a:t>
              </a:r>
              <a:r>
                <a:rPr lang="en-US" sz="1400" dirty="0" err="1">
                  <a:solidFill>
                    <a:srgbClr val="0A0A0A"/>
                  </a:solidFill>
                  <a:latin typeface="Merriweather" pitchFamily="2" charset="77"/>
                </a:rPr>
                <a:t>werfen</a:t>
              </a:r>
              <a:r>
                <a:rPr lang="en-US" sz="1400" dirty="0">
                  <a:solidFill>
                    <a:srgbClr val="0A0A0A"/>
                  </a:solidFill>
                  <a:latin typeface="Merriweather" pitchFamily="2" charset="77"/>
                </a:rPr>
                <a:t>”</a:t>
              </a:r>
            </a:p>
            <a:p>
              <a:pPr algn="ctr">
                <a:lnSpc>
                  <a:spcPct val="150000"/>
                </a:lnSpc>
              </a:pPr>
              <a:r>
                <a:rPr lang="en-US" sz="1400" dirty="0">
                  <a:solidFill>
                    <a:srgbClr val="0A0A0A"/>
                  </a:solidFill>
                  <a:latin typeface="Merriweather" pitchFamily="2" charset="77"/>
                </a:rPr>
                <a:t>(to throw)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5428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72</Words>
  <Application>Microsoft Macintosh PowerPoint</Application>
  <PresentationFormat>Benutzerdefiniert</PresentationFormat>
  <Paragraphs>24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Merriweather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Manuel Bohn</dc:creator>
  <cp:lastModifiedBy>Manuel Bohn</cp:lastModifiedBy>
  <cp:revision>5</cp:revision>
  <dcterms:created xsi:type="dcterms:W3CDTF">2026-03-30T08:12:36Z</dcterms:created>
  <dcterms:modified xsi:type="dcterms:W3CDTF">2026-03-30T18:14:01Z</dcterms:modified>
</cp:coreProperties>
</file>